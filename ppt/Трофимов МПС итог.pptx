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68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wl.purdue.edu/owl/subject_specific_writing/healthcare_writing/soap_notes/major_section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who.int/publications/i/item/978924002920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768499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hl7.org/hubfs/Education/Brochures/FHIRFundamentals_2025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wl.purdue.edu/owl/subject_specific_writing/healthcare_writing/soap_notes/major_section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nature.com/articles/s41586-023-06291-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hl7.org/hubfs/Education/Brochures/FHIRFundamentals_2025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who.int/publications/i/item/978924002920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hl7.org/hubfs/Education/Brochures/FHIRFundamentals_2025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who.int/publications/i/item/97892400292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965960" y="5486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Передовая инженерная школа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«Интеллектуальные системы тераностики»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669280" y="548640"/>
            <a:ext cx="0" cy="822960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5486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869680" y="548640"/>
            <a:ext cx="0" cy="822960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98280" y="548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электронную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карту пациента для автоматического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написания истории болезни (SOAP-ноут)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0080" y="5504688"/>
            <a:ext cx="37692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Трофимов Алексей 636-02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Информационные системы и технологии  ·  Москва 2026</a:t>
            </a:r>
            <a:endParaRPr lang="en-US" sz="1200" dirty="0"/>
          </a:p>
        </p:txBody>
      </p:sp>
      <p:pic>
        <p:nvPicPr>
          <p:cNvPr id="13" name="Image 0" descr="logo_symbol.png">
            <a:extLst>
              <a:ext uri="{FF2B5EF4-FFF2-40B4-BE49-F238E27FC236}">
                <a16:creationId xmlns:a16="http://schemas.microsoft.com/office/drawing/2014/main" id="{991C1117-F359-EE82-27DB-3736C2DF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868680" cy="868680"/>
          </a:xfrm>
          <a:prstGeom prst="rect">
            <a:avLst/>
          </a:prstGeom>
        </p:spPr>
      </p:pic>
      <p:pic>
        <p:nvPicPr>
          <p:cNvPr id="15" name="Image 1" descr="logo_full.png">
            <a:extLst>
              <a:ext uri="{FF2B5EF4-FFF2-40B4-BE49-F238E27FC236}">
                <a16:creationId xmlns:a16="http://schemas.microsoft.com/office/drawing/2014/main" id="{6CEEF3D3-72D0-E908-AAEF-5B7B8A149D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9098280" y="2103120"/>
            <a:ext cx="2514600" cy="2908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презентации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презентации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18562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214884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Документационная нагрузка и неструктурированный текст в ЭМК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2551176"/>
            <a:ext cx="548640" cy="54864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551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371600" y="25328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цель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2825496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SOAP без потери клинической точности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3227832"/>
            <a:ext cx="548640" cy="54864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371600" y="32095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существующих подходов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350215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ввод, шаблоны, диктовка, ассистент, AI-scribe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3904488"/>
            <a:ext cx="548640" cy="54864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371600" y="38862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Разработанное решение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1600" y="417880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LLM-модуля и поток данных, формирование SOAP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0080" y="4581144"/>
            <a:ext cx="548640" cy="54864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4581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371600" y="456285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ML-анализ и проверка структуры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371600" y="485546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клинических записей и контроль разделов SOAP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40080" y="5257800"/>
            <a:ext cx="548640" cy="54864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371600" y="52395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внедрение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71600" y="553212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Отличия решения, практические этапы внедрения, выводы</a:t>
            </a:r>
            <a:endParaRPr lang="en-US" sz="1250" dirty="0"/>
          </a:p>
        </p:txBody>
      </p:sp>
      <p:pic>
        <p:nvPicPr>
          <p:cNvPr id="36" name="Image 0" descr="logo_symbol.png">
            <a:extLst>
              <a:ext uri="{FF2B5EF4-FFF2-40B4-BE49-F238E27FC236}">
                <a16:creationId xmlns:a16="http://schemas.microsoft.com/office/drawing/2014/main" id="{2A4DA971-095D-4DA1-464B-5645C771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274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2011680"/>
            <a:ext cx="4937760" cy="141732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1488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ч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68680" y="2788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оформление документации на каждый час приёма пациента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4937760" cy="141732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794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текст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68680" y="44348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формат записей в ЭМК — слабая структурированность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121408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2011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документационная нагрузка снижает время на контакт с пациентом и повышает риск выгорания врача.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035040" y="3200400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309067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Неструктурированный текст в ЭМК затрудняет поиск, анализ и повторное использование клинических данных.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035040" y="4279392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4169664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потребность в стандартизации записей для совместимости систем и качества помощи.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035040" y="5358384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5248656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SOAP (Subjective, Objective, Assessment, Plan) — общепринятый стандарт структурирования клинической записи.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Purdue OWL — SOAP Notes</a:t>
            </a: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— Ethics &amp; Governance of AI for Health</a:t>
            </a:r>
            <a:endParaRPr lang="en-US" sz="850" dirty="0"/>
          </a:p>
        </p:txBody>
      </p:sp>
      <p:pic>
        <p:nvPicPr>
          <p:cNvPr id="26" name="Image 0" descr="logo_symbol.png">
            <a:extLst>
              <a:ext uri="{FF2B5EF4-FFF2-40B4-BE49-F238E27FC236}">
                <a16:creationId xmlns:a16="http://schemas.microsoft.com/office/drawing/2014/main" id="{BE7EA460-525C-05E5-39F3-BEE4D7862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" y="29718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цель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Проблема, цель и задачи работы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1874520"/>
            <a:ext cx="5349240" cy="210312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03911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8680" y="2532888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Автоматизировать формирование истории болезни нужно так, чтобы не потерять клиническую точность и сохранить ответственность врача за принимаемые решения.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72200" y="1874520"/>
            <a:ext cx="5349240" cy="210312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03911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400800" y="2532888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ru-RU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</a:t>
            </a:r>
            <a:r>
              <a:rPr lang="en-US" sz="14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формирующий черновик SOAP-ноута на основе данных приёма и сведений из ЭМК, с обязательной проверкой и утверждением врачом.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Решённые задачи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" y="4681728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572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Проанализированы текущие подходы к ведению истории болезни и их ограничения.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72200" y="4681728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4572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Спроектированы архитектура LLM-модуля и поток данных с интеграцией в ЭМК.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1389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ML-анализ структуры клинических записей для контроля разделов SOAP.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172200" y="5248656"/>
            <a:ext cx="82296" cy="822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51389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Определены отличия решения и практический план внедрения в медорганизации.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Объект:  </a:t>
            </a: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ведения клинической документации в ЭМК.    </a:t>
            </a:r>
            <a:r>
              <a:rPr lang="en-US" sz="11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Предмет:  </a:t>
            </a: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 архитектура интеграции LLM для генерации SOAP-ноута.</a:t>
            </a:r>
            <a:endParaRPr lang="en-US" sz="1150" dirty="0"/>
          </a:p>
        </p:txBody>
      </p:sp>
      <p:pic>
        <p:nvPicPr>
          <p:cNvPr id="27" name="Image 0" descr="logo_symbol.png">
            <a:extLst>
              <a:ext uri="{FF2B5EF4-FFF2-40B4-BE49-F238E27FC236}">
                <a16:creationId xmlns:a16="http://schemas.microsoft.com/office/drawing/2014/main" id="{F0DA841D-86F3-DB8A-B00E-63E68112F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подходы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решения и ограничения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7033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Подход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Ключевое ограничение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ввод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Врач сам печатает запись в ЭМК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Долго, высокая нагрузка и риск ошибок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Шаблоны / формы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Готовые бланки и чек-листы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Жёсткость, не учитывают контекст случая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Диктовка (ASR)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Голос → текст распознаванием речи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не структурирован, нужна правка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Мед. ассистент / скрайб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Сотрудник ведёт запись за врача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Затраты, масштабируется плохо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AI-scribe (ambient)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ИИ слушает приём и пишет черновик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 ошибок, нужен контроль и интеграция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NEJM AI — Ambient AI Scribes</a:t>
            </a:r>
            <a:endParaRPr lang="en-US" sz="850" dirty="0"/>
          </a:p>
        </p:txBody>
      </p:sp>
      <p:pic>
        <p:nvPicPr>
          <p:cNvPr id="13" name="Image 0" descr="logo_symbol.png">
            <a:extLst>
              <a:ext uri="{FF2B5EF4-FFF2-40B4-BE49-F238E27FC236}">
                <a16:creationId xmlns:a16="http://schemas.microsoft.com/office/drawing/2014/main" id="{E2D937F5-F607-5154-9DBB-728991EDB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74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Разработанное решение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Разработанное решение: архитектура и поток данных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214884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2951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· заметки · ЭМК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27157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данных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073652" y="2519172"/>
            <a:ext cx="310896" cy="21945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0560" y="214884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22951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480560" y="27157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и нормализация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14132" y="2519172"/>
            <a:ext cx="310896" cy="21945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19" name="Shape 16"/>
          <p:cNvSpPr/>
          <p:nvPr/>
        </p:nvSpPr>
        <p:spPr>
          <a:xfrm>
            <a:off x="8321040" y="214884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9DC3E6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22951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LLM-модуль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21040" y="27157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черновика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880092" y="3163824"/>
            <a:ext cx="219456" cy="576072"/>
          </a:xfrm>
          <a:prstGeom prst="downArrow">
            <a:avLst/>
          </a:prstGeom>
          <a:solidFill>
            <a:srgbClr val="2E6DB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21040" y="37947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0" y="394106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SOAP-черновик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321040" y="43616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текст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480560" y="37947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0560" y="394106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структуры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480560" y="43616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ML-анализ разделов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914132" y="4165092"/>
            <a:ext cx="310896" cy="219456"/>
          </a:xfrm>
          <a:prstGeom prst="leftArrow">
            <a:avLst/>
          </a:prstGeom>
          <a:solidFill>
            <a:srgbClr val="2E6DB4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" y="37947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9DC3E6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94106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утверждает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0080" y="43616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073652" y="4165092"/>
            <a:ext cx="310896" cy="219456"/>
          </a:xfrm>
          <a:prstGeom prst="leftArrow">
            <a:avLst/>
          </a:prstGeom>
          <a:solidFill>
            <a:srgbClr val="2E6DB4"/>
          </a:solidFill>
          <a:ln/>
        </p:spPr>
      </p:sp>
      <p:sp>
        <p:nvSpPr>
          <p:cNvPr id="34" name="Shape 31"/>
          <p:cNvSpPr/>
          <p:nvPr/>
        </p:nvSpPr>
        <p:spPr>
          <a:xfrm>
            <a:off x="2199132" y="4809744"/>
            <a:ext cx="219456" cy="393192"/>
          </a:xfrm>
          <a:prstGeom prst="downArrow">
            <a:avLst/>
          </a:prstGeom>
          <a:solidFill>
            <a:srgbClr val="2E6DB4"/>
          </a:solidFill>
          <a:ln/>
        </p:spPr>
      </p:sp>
      <p:sp>
        <p:nvSpPr>
          <p:cNvPr id="35" name="Shape 32"/>
          <p:cNvSpPr/>
          <p:nvPr/>
        </p:nvSpPr>
        <p:spPr>
          <a:xfrm>
            <a:off x="640080" y="525780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2E6DB4"/>
          </a:solidFill>
          <a:ln/>
        </p:spPr>
      </p:sp>
      <p:sp>
        <p:nvSpPr>
          <p:cNvPr id="36" name="Text 33"/>
          <p:cNvSpPr/>
          <p:nvPr/>
        </p:nvSpPr>
        <p:spPr>
          <a:xfrm>
            <a:off x="640080" y="5257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ЭМК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HL7 FHIR Fundamentals</a:t>
            </a:r>
            <a:endParaRPr lang="en-US" sz="850" dirty="0"/>
          </a:p>
        </p:txBody>
      </p:sp>
      <p:pic>
        <p:nvPicPr>
          <p:cNvPr id="38" name="Image 0" descr="logo_symbol.png">
            <a:extLst>
              <a:ext uri="{FF2B5EF4-FFF2-40B4-BE49-F238E27FC236}">
                <a16:creationId xmlns:a16="http://schemas.microsoft.com/office/drawing/2014/main" id="{F4B6B943-451D-189E-B0C5-4D70F8265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74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SOAP-ноут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SOAP-ноута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1874520"/>
            <a:ext cx="5303520" cy="1691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874520"/>
            <a:ext cx="777240" cy="16916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874520"/>
            <a:ext cx="777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600200" y="2039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— Субъективное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00200" y="24414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Жалобы, анамнез, описание состояния со слов пациента.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874520"/>
            <a:ext cx="5303520" cy="1691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874520"/>
            <a:ext cx="777240" cy="16916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874520"/>
            <a:ext cx="777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178040" y="2039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Объективное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178040" y="24414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Осмотр, витальные показатели, результаты анализов и инструментов.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3840480"/>
            <a:ext cx="5303520" cy="1691640"/>
          </a:xfrm>
          <a:prstGeom prst="rect">
            <a:avLst/>
          </a:prstGeom>
          <a:solidFill>
            <a:srgbClr val="9DC3E6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40480"/>
            <a:ext cx="777240" cy="16916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840480"/>
            <a:ext cx="777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1600200" y="4005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— Оценка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00200" y="440740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Клиническая интерпретация и предполагаемые диагнозы.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600200" y="512064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4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Контроль врача обязателен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3840480"/>
            <a:ext cx="5303520" cy="1691640"/>
          </a:xfrm>
          <a:prstGeom prst="rect">
            <a:avLst/>
          </a:prstGeom>
          <a:solidFill>
            <a:srgbClr val="9DC3E6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0" y="3840480"/>
            <a:ext cx="777240" cy="16916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0" y="3840480"/>
            <a:ext cx="777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7178040" y="4005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План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178040" y="440740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Назначения, обследования, рекомендации и контроль.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178040" y="512064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4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Контроль врача обязателен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Purdue OWL — SOAP Notes</a:t>
            </a: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— Med-PaLM</a:t>
            </a:r>
            <a:endParaRPr lang="en-US" sz="850" dirty="0"/>
          </a:p>
        </p:txBody>
      </p:sp>
      <p:pic>
        <p:nvPicPr>
          <p:cNvPr id="34" name="Image 0" descr="logo_symbol.png">
            <a:extLst>
              <a:ext uri="{FF2B5EF4-FFF2-40B4-BE49-F238E27FC236}">
                <a16:creationId xmlns:a16="http://schemas.microsoft.com/office/drawing/2014/main" id="{F81269BD-3B57-83B6-A780-1BB6016A2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" y="23317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ML-анализ структуры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ML-анализ структуры клинических записей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6400800" cy="3977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965960"/>
            <a:ext cx="5989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sklearn.feature_extraction.text import TfidfVectorizer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TruncatedSVD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  = ehr_notes["fragment_text"]   # фрагменты SOAP/ЭМК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ehr_notes["soap_section"]    # S / O / A / P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TfidfVectorizer(ngram_range=(1, 2),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min_df=2).fit_transform(texts)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TruncatedSVD(n_components=2,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random_state=42).fit_transform(X)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ehr_notes["cluster"] = KMeans(n_clusters=4,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random_state=42).fit_predict(Z)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print(ehr_notes.groupby(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["soap_section", "cluster"]).size())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" y="5852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анализа клинических записей: TF-IDF → TruncatedSVD → кластеризация фрагментов по разделам SOAP.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Мини-вывод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194560"/>
          <a:ext cx="420624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различима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различима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различима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различима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7315200" y="45720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S/O/A/P формируют различимые группы признаков; спорные фрагменты передаются врачу на проверку.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315200" y="5440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помогает контролировать структуру SOAP и находить неоднозначные фрагменты записи.</a:t>
            </a:r>
            <a:endParaRPr lang="en-US" sz="1150" dirty="0"/>
          </a:p>
        </p:txBody>
      </p:sp>
      <p:pic>
        <p:nvPicPr>
          <p:cNvPr id="18" name="Image 0" descr="logo_symbol.png">
            <a:extLst>
              <a:ext uri="{FF2B5EF4-FFF2-40B4-BE49-F238E27FC236}">
                <a16:creationId xmlns:a16="http://schemas.microsoft.com/office/drawing/2014/main" id="{8BE767FE-64F0-C3FC-B1F0-3E52217B9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21031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решения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и отличия решения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79476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Отличие решения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Практическая польза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Нативная интеграция с ЭМК (FHIR)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Черновик попадает прямо в карту — без двойного ввода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Трассировка источников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Каждое утверждение привязано к данным — проверяемость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врача (human-in-the-loop)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Врач утверждает запись — сохраняется клиническая точность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ML-проверка структуры SOAP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разделов и выявление неоднозначных фрагментов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Снижение ручного труда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Меньше времени на оформление, больше — на пациента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HL7 FHIR Fundamentals</a:t>
            </a: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— AI for Health</a:t>
            </a:r>
            <a:endParaRPr lang="en-US" sz="850" dirty="0"/>
          </a:p>
        </p:txBody>
      </p:sp>
      <p:pic>
        <p:nvPicPr>
          <p:cNvPr id="13" name="Image 0" descr="logo_symbol.png">
            <a:extLst>
              <a:ext uri="{FF2B5EF4-FFF2-40B4-BE49-F238E27FC236}">
                <a16:creationId xmlns:a16="http://schemas.microsoft.com/office/drawing/2014/main" id="{1E7D1E5A-D944-8AC7-299F-5D5E5047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" y="23317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38100">
            <a:solidFill>
              <a:srgbClr val="1F4E9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17320" y="384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ФГАОУ ВО Первый МГМУ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им. И. М. Сеченова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84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LLM в ЭМК для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 SOAP-ноута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и выводы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612880" y="365760"/>
            <a:ext cx="0" cy="603504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и выводы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2140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290572" y="2468880"/>
            <a:ext cx="118872" cy="12801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15" name="Shape 12"/>
          <p:cNvSpPr/>
          <p:nvPr/>
        </p:nvSpPr>
        <p:spPr>
          <a:xfrm>
            <a:off x="2432304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32304" y="212140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432304" y="25146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082796" y="2468880"/>
            <a:ext cx="118872" cy="12801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19" name="Shape 16"/>
          <p:cNvSpPr/>
          <p:nvPr/>
        </p:nvSpPr>
        <p:spPr>
          <a:xfrm>
            <a:off x="4224528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24528" y="212140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224528" y="25146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75020" y="2468880"/>
            <a:ext cx="118872" cy="12801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23" name="Shape 20"/>
          <p:cNvSpPr/>
          <p:nvPr/>
        </p:nvSpPr>
        <p:spPr>
          <a:xfrm>
            <a:off x="6016752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16752" y="212140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016752" y="25146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ЭМК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667244" y="2468880"/>
            <a:ext cx="118872" cy="12801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27" name="Shape 24"/>
          <p:cNvSpPr/>
          <p:nvPr/>
        </p:nvSpPr>
        <p:spPr>
          <a:xfrm>
            <a:off x="7808976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9DC3E6"/>
          </a:solidFill>
          <a:ln w="17780">
            <a:solidFill>
              <a:srgbClr val="2E6DB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08976" y="212140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808976" y="25146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Экспертная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459468" y="2468880"/>
            <a:ext cx="118872" cy="128016"/>
          </a:xfrm>
          <a:prstGeom prst="rightArrow">
            <a:avLst/>
          </a:prstGeom>
          <a:solidFill>
            <a:srgbClr val="2E6DB4"/>
          </a:solidFill>
          <a:ln/>
        </p:spPr>
      </p:sp>
      <p:sp>
        <p:nvSpPr>
          <p:cNvPr id="31" name="Shape 28"/>
          <p:cNvSpPr/>
          <p:nvPr/>
        </p:nvSpPr>
        <p:spPr>
          <a:xfrm>
            <a:off x="9601200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9DC3E6"/>
          </a:solidFill>
          <a:ln w="17780">
            <a:solidFill>
              <a:srgbClr val="2E6DB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01200" y="212140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9601200" y="25146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в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клинике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40080" y="3246120"/>
            <a:ext cx="201168" cy="201168"/>
          </a:xfrm>
          <a:prstGeom prst="rect">
            <a:avLst/>
          </a:prstGeom>
          <a:solidFill>
            <a:srgbClr val="9DC3E6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3200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 выделены этапы практической проверки и пилотного внедрения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" y="3611880"/>
            <a:ext cx="10881360" cy="1508760"/>
          </a:xfrm>
          <a:prstGeom prst="rect">
            <a:avLst/>
          </a:prstGeom>
          <a:solidFill>
            <a:srgbClr val="F2F5F9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68680" y="3749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868680" y="41605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Разработанный LLM-модуль формирует черновик SOAP-ноута и снижает документационную нагрузку, сохраняя контроль врача, трассируемость данных и проверку структуры записи методами машинного обучения. Решение интегрируется с ЭМК и готово к экспертной оценке и пилотному внедрению в медицинской организации.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HL7 FHIR Fundamentals</a:t>
            </a: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i="1" u="sng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— AI for Health</a:t>
            </a:r>
            <a:endParaRPr lang="en-US" sz="850" dirty="0"/>
          </a:p>
        </p:txBody>
      </p:sp>
      <p:pic>
        <p:nvPicPr>
          <p:cNvPr id="41" name="Image 0" descr="logo_symbol.png">
            <a:extLst>
              <a:ext uri="{FF2B5EF4-FFF2-40B4-BE49-F238E27FC236}">
                <a16:creationId xmlns:a16="http://schemas.microsoft.com/office/drawing/2014/main" id="{9C6BBC40-141F-635A-9359-8A8FC492F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718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1097</Words>
  <Application>Microsoft Office PowerPoint</Application>
  <PresentationFormat>Широкоэкранный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trofim</cp:lastModifiedBy>
  <cp:revision>2</cp:revision>
  <dcterms:created xsi:type="dcterms:W3CDTF">2026-06-14T11:33:33Z</dcterms:created>
  <dcterms:modified xsi:type="dcterms:W3CDTF">2026-06-14T13:19:00Z</dcterms:modified>
</cp:coreProperties>
</file>